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0" y="2560320"/>
            <a:ext cx="9144000" cy="381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0" y="2743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KI-RnB ABS/ESC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3832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88BBEE"/>
                </a:solidFill>
              </a:rPr>
              <a:t>Roller Bench Test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99999"/>
                </a:solidFill>
              </a:rPr>
              <a:t>LX3 Driving Curve  |  33 Steps  |  167 sec  |  Max 100 km/h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5029200"/>
            <a:ext cx="1188720" cy="36576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ECU INIT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41648" y="5029200"/>
            <a:ext cx="1188720" cy="36576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DTC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0096" y="5029200"/>
            <a:ext cx="1188720" cy="365760"/>
          </a:xfrm>
          <a:prstGeom prst="round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WSS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8544" y="5029200"/>
            <a:ext cx="1188720" cy="36576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SPEED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36992" y="5029200"/>
            <a:ext cx="1188720" cy="365760"/>
          </a:xfrm>
          <a:prstGeom prst="round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BRAKE/ABS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5029200"/>
            <a:ext cx="1188720" cy="365760"/>
          </a:xfrm>
          <a:prstGeom prst="round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PARKING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33888" y="5029200"/>
            <a:ext cx="1188720" cy="365760"/>
          </a:xfrm>
          <a:prstGeom prst="roundRect">
            <a:avLst/>
          </a:prstGeom>
          <a:solidFill>
            <a:srgbClr val="77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FINISH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PROCESS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Full sequence: 33 steps in 6 phases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2176272" cy="64008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50800"/>
          <a:lstStyle/>
          <a:p>
            <a:pPr algn="l"/>
            <a:r>
              <a:rPr sz="900" b="1">
                <a:solidFill>
                  <a:srgbClr val="FFFFFF"/>
                </a:solidFill>
              </a:rPr>
              <a:t>PHASE 1
ECU INITIALIZE</a:t>
            </a:r>
          </a:p>
          <a:p>
            <a:r>
              <a:rPr sz="800">
                <a:solidFill>
                  <a:srgbClr val="FFFFFF"/>
                </a:solidFill>
              </a:rPr>
              <a:t>0~26s</a:t>
            </a:r>
          </a:p>
        </p:txBody>
      </p:sp>
      <p:sp>
        <p:nvSpPr>
          <p:cNvPr id="5" name="Rectangle 4"/>
          <p:cNvSpPr/>
          <p:nvPr/>
        </p:nvSpPr>
        <p:spPr>
          <a:xfrm>
            <a:off x="1441196" y="1737360"/>
            <a:ext cx="25400" cy="109728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87452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38912" y="1975104"/>
            <a:ext cx="274320" cy="274320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INITIALIZATION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2140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42316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" y="2523744"/>
            <a:ext cx="274320" cy="274320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ECU CONNECT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7180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" y="3072384"/>
            <a:ext cx="274320" cy="274320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175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START COMM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1868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5s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52044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8912" y="3621024"/>
            <a:ext cx="274320" cy="274320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566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ECU IDENT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76732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06908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4169664"/>
            <a:ext cx="274320" cy="274320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1148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CHECK SIGNAL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31596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61772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8912" y="4718304"/>
            <a:ext cx="274320" cy="274320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6634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DTC READ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86460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516636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38912" y="5266944"/>
            <a:ext cx="274320" cy="274320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2120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DTC CLEAR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41324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571500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8912" y="5815584"/>
            <a:ext cx="274320" cy="274320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7607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[N] STOP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96188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2554732" y="1371600"/>
            <a:ext cx="91440" cy="13716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651760" y="1097280"/>
            <a:ext cx="2176272" cy="640080"/>
          </a:xfrm>
          <a:prstGeom prst="round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50800"/>
          <a:lstStyle/>
          <a:p>
            <a:pPr algn="l"/>
            <a:r>
              <a:rPr sz="900" b="1">
                <a:solidFill>
                  <a:srgbClr val="FFFFFF"/>
                </a:solidFill>
              </a:rPr>
              <a:t>PHASE 2
WSS TEST</a:t>
            </a:r>
          </a:p>
          <a:p>
            <a:r>
              <a:rPr sz="800">
                <a:solidFill>
                  <a:srgbClr val="FFFFFF"/>
                </a:solidFill>
              </a:rPr>
              <a:t>26~46s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27196" y="1737360"/>
            <a:ext cx="25400" cy="109728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651760" y="187452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C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724912" y="1975104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63240" y="1920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WSS READY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212140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4s  |  5 km/h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51760" y="242316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C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724912" y="2523744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63240" y="24688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WSS TEST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63240" y="267004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10s  |  5 km/h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651760" y="297180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C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724912" y="3072384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3240" y="30175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[N] STOP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63240" y="321868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51760" y="352044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C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724912" y="3621024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63240" y="3566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MODE 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376732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4840732" y="1371600"/>
            <a:ext cx="91440" cy="13716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937760" y="1097280"/>
            <a:ext cx="2176272" cy="64008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50800"/>
          <a:lstStyle/>
          <a:p>
            <a:pPr algn="l"/>
            <a:r>
              <a:rPr sz="900" b="1">
                <a:solidFill>
                  <a:srgbClr val="FFFFFF"/>
                </a:solidFill>
              </a:rPr>
              <a:t>PHASE 3
SPEED &amp; CRUISE</a:t>
            </a:r>
          </a:p>
          <a:p>
            <a:r>
              <a:rPr sz="800">
                <a:solidFill>
                  <a:srgbClr val="FFFFFF"/>
                </a:solidFill>
              </a:rPr>
              <a:t>46~101s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13196" y="1737360"/>
            <a:ext cx="25400" cy="10972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937760" y="187452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010912" y="1975104"/>
            <a:ext cx="274320" cy="27432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49240" y="1920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SPEED UP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49240" y="212140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10s  |  40 km/h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37760" y="242316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010912" y="2523744"/>
            <a:ext cx="274320" cy="27432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49240" y="24688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SMT TEST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9240" y="267004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5s  |  40 km/h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0" y="297180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010912" y="3072384"/>
            <a:ext cx="274320" cy="27432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30175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CRUISE 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49240" y="321868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10s  |  80 km/h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937760" y="352044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010912" y="3621024"/>
            <a:ext cx="274320" cy="27432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49240" y="3566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CRUISE CHECK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49240" y="376732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20s  |  80 km/h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0" y="406908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010912" y="4169664"/>
            <a:ext cx="274320" cy="27432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49240" y="41148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MAX SPEED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49240" y="431596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10s  |  100 km/h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126732" y="1371600"/>
            <a:ext cx="91440" cy="13716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7223760" y="1097280"/>
            <a:ext cx="2176272" cy="640080"/>
          </a:xfrm>
          <a:prstGeom prst="round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50800"/>
          <a:lstStyle/>
          <a:p>
            <a:pPr algn="l"/>
            <a:r>
              <a:rPr sz="900" b="1">
                <a:solidFill>
                  <a:srgbClr val="FFFFFF"/>
                </a:solidFill>
              </a:rPr>
              <a:t>PHASE 4
BRAKE &amp; ABS</a:t>
            </a:r>
          </a:p>
          <a:p>
            <a:r>
              <a:rPr sz="800">
                <a:solidFill>
                  <a:srgbClr val="FFFFFF"/>
                </a:solidFill>
              </a:rPr>
              <a:t>101~126s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99196" y="1737360"/>
            <a:ext cx="25400" cy="109728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7223760" y="187452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3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296912" y="1975104"/>
            <a:ext cx="274320" cy="274320"/>
          </a:xfrm>
          <a:prstGeom prst="ellipse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1920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ENGINE BRAKE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635240" y="212140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10s  |  90 km/h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223760" y="242316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3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296912" y="2523744"/>
            <a:ext cx="274320" cy="274320"/>
          </a:xfrm>
          <a:prstGeom prst="ellipse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635240" y="24688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DRAG TEST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35240" y="267004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  |  80 km/h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223760" y="297180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3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296912" y="3072384"/>
            <a:ext cx="274320" cy="274320"/>
          </a:xfrm>
          <a:prstGeom prst="ellipse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635240" y="30175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BRAKE TEST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35240" y="321868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  |  60 km/h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23760" y="352044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3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296912" y="3621024"/>
            <a:ext cx="274320" cy="274320"/>
          </a:xfrm>
          <a:prstGeom prst="ellipse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635240" y="3566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DYNAMIC READY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635240" y="376732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2s  |  55 km/h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223760" y="406908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3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296912" y="4169664"/>
            <a:ext cx="274320" cy="274320"/>
          </a:xfrm>
          <a:prstGeom prst="ellipse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635240" y="41148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DYNAMIC TEST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635240" y="431596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4s  |  10 km/h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223760" y="461772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3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296912" y="4718304"/>
            <a:ext cx="274320" cy="274320"/>
          </a:xfrm>
          <a:prstGeom prst="ellipse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23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35240" y="46634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[N] STOP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635240" y="486460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9412732" y="1371600"/>
            <a:ext cx="91440" cy="13716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9509760" y="1097280"/>
            <a:ext cx="2176272" cy="640080"/>
          </a:xfrm>
          <a:prstGeom prst="round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50800"/>
          <a:lstStyle/>
          <a:p>
            <a:pPr algn="l"/>
            <a:r>
              <a:rPr sz="900" b="1">
                <a:solidFill>
                  <a:srgbClr val="FFFFFF"/>
                </a:solidFill>
              </a:rPr>
              <a:t>PHASE 5
REVERSE &amp; PARKING</a:t>
            </a:r>
          </a:p>
          <a:p>
            <a:r>
              <a:rPr sz="800">
                <a:solidFill>
                  <a:srgbClr val="FFFFFF"/>
                </a:solidFill>
              </a:rPr>
              <a:t>126~149s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585196" y="1737360"/>
            <a:ext cx="25400" cy="109728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9509760" y="187452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A8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9582912" y="1975104"/>
            <a:ext cx="274320" cy="274320"/>
          </a:xfrm>
          <a:prstGeom prst="ellipse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24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921240" y="1920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REVERSE [R]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921240" y="212140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5s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509760" y="242316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A8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9582912" y="2523744"/>
            <a:ext cx="274320" cy="274320"/>
          </a:xfrm>
          <a:prstGeom prst="ellipse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21240" y="24688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[R] 5KPH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921240" y="267004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5s  |  5 km/h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9509760" y="297180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A8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582912" y="3072384"/>
            <a:ext cx="274320" cy="274320"/>
          </a:xfrm>
          <a:prstGeom prst="ellipse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921240" y="30175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[N] STOP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921240" y="321868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509760" y="352044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A8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582912" y="3621024"/>
            <a:ext cx="274320" cy="274320"/>
          </a:xfrm>
          <a:prstGeom prst="ellipse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921240" y="3566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PARKING READY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921240" y="376732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5s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9509760" y="406908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A8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582912" y="4169664"/>
            <a:ext cx="274320" cy="274320"/>
          </a:xfrm>
          <a:prstGeom prst="ellipse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921240" y="41148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PARKING TEST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921240" y="431596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5s</a:t>
            </a:r>
          </a:p>
        </p:txBody>
      </p:sp>
      <p:sp>
        <p:nvSpPr>
          <p:cNvPr id="130" name="Right Arrow 129"/>
          <p:cNvSpPr/>
          <p:nvPr/>
        </p:nvSpPr>
        <p:spPr>
          <a:xfrm>
            <a:off x="11698732" y="1371600"/>
            <a:ext cx="91440" cy="13716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11795760" y="1097280"/>
            <a:ext cx="2176272" cy="640080"/>
          </a:xfrm>
          <a:prstGeom prst="roundRect">
            <a:avLst/>
          </a:prstGeom>
          <a:solidFill>
            <a:srgbClr val="77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50800"/>
          <a:lstStyle/>
          <a:p>
            <a:pPr algn="l"/>
            <a:r>
              <a:rPr sz="900" b="1">
                <a:solidFill>
                  <a:srgbClr val="FFFFFF"/>
                </a:solidFill>
              </a:rPr>
              <a:t>PHASE 6
FINISH</a:t>
            </a:r>
          </a:p>
          <a:p>
            <a:r>
              <a:rPr sz="800">
                <a:solidFill>
                  <a:srgbClr val="FFFFFF"/>
                </a:solidFill>
              </a:rPr>
              <a:t>149~167s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2871196" y="1737360"/>
            <a:ext cx="25400" cy="109728"/>
          </a:xfrm>
          <a:prstGeom prst="rect">
            <a:avLst/>
          </a:prstGeom>
          <a:solidFill>
            <a:srgbClr val="77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11795760" y="187452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77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868912" y="1975104"/>
            <a:ext cx="274320" cy="274320"/>
          </a:xfrm>
          <a:prstGeom prst="ellipse">
            <a:avLst/>
          </a:prstGeom>
          <a:solidFill>
            <a:srgbClr val="77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29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2207240" y="1920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IDLE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207240" y="212140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1795760" y="242316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77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868912" y="2523744"/>
            <a:ext cx="274320" cy="274320"/>
          </a:xfrm>
          <a:prstGeom prst="ellipse">
            <a:avLst/>
          </a:prstGeom>
          <a:solidFill>
            <a:srgbClr val="77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207240" y="24688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DTC READ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207240" y="267004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4s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1795760" y="297180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77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68912" y="3072384"/>
            <a:ext cx="274320" cy="274320"/>
          </a:xfrm>
          <a:prstGeom prst="ellipse">
            <a:avLst/>
          </a:prstGeom>
          <a:solidFill>
            <a:srgbClr val="77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207240" y="30175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DTC CLEAR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207240" y="321868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1795760" y="352044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77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68912" y="3621024"/>
            <a:ext cx="274320" cy="274320"/>
          </a:xfrm>
          <a:prstGeom prst="ellipse">
            <a:avLst/>
          </a:prstGeom>
          <a:solidFill>
            <a:srgbClr val="77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32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207240" y="3566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ECU DISCONNECT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2207240" y="376732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3s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1795760" y="4069080"/>
            <a:ext cx="2176272" cy="475488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77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868912" y="4169664"/>
            <a:ext cx="274320" cy="274320"/>
          </a:xfrm>
          <a:prstGeom prst="ellipse">
            <a:avLst/>
          </a:prstGeom>
          <a:solidFill>
            <a:srgbClr val="77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207240" y="41148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FINISH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2207240" y="431596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5s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SPEED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Vehicle speed over time (167 seconds)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280160"/>
            <a:ext cx="12984480" cy="5760720"/>
          </a:xfrm>
          <a:prstGeom prst="roundRect">
            <a:avLst/>
          </a:prstGeom>
          <a:solidFill>
            <a:srgbClr val="0F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88720" y="6675120"/>
            <a:ext cx="12801600" cy="8890"/>
          </a:xfrm>
          <a:prstGeom prst="rect">
            <a:avLst/>
          </a:prstGeom>
          <a:solidFill>
            <a:srgbClr val="22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5710844"/>
            <a:ext cx="12801600" cy="8890"/>
          </a:xfrm>
          <a:prstGeom prst="rect">
            <a:avLst/>
          </a:prstGeom>
          <a:solidFill>
            <a:srgbClr val="22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5601116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746568"/>
            <a:ext cx="12801600" cy="8890"/>
          </a:xfrm>
          <a:prstGeom prst="rect">
            <a:avLst/>
          </a:prstGeom>
          <a:solidFill>
            <a:srgbClr val="22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6368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782291"/>
            <a:ext cx="12801600" cy="8890"/>
          </a:xfrm>
          <a:prstGeom prst="rect">
            <a:avLst/>
          </a:prstGeom>
          <a:solidFill>
            <a:srgbClr val="22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3672563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60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2818015"/>
            <a:ext cx="12801600" cy="8890"/>
          </a:xfrm>
          <a:prstGeom prst="rect">
            <a:avLst/>
          </a:prstGeom>
          <a:solidFill>
            <a:srgbClr val="22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708287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1853739"/>
            <a:ext cx="12801600" cy="8890"/>
          </a:xfrm>
          <a:prstGeom prst="rect">
            <a:avLst/>
          </a:prstGeom>
          <a:solidFill>
            <a:srgbClr val="22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1744011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0s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55282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72402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10s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21845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38965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20s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8408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05528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30s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4971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72091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40s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1534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8654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50s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88097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05217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60s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4660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1780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70s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21222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8342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80s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87785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04905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90s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54348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71468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100s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20911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38031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110s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387474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04594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120s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154037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71157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130s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920600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37720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140s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687163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504283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150s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453725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70845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160s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220288" y="1371600"/>
            <a:ext cx="6350" cy="5303520"/>
          </a:xfrm>
          <a:prstGeom prst="rect">
            <a:avLst/>
          </a:prstGeom>
          <a:solidFill>
            <a:srgbClr val="1A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037408" y="6720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170s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88720" y="1051560"/>
            <a:ext cx="1993063" cy="2286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700" b="1">
                <a:solidFill>
                  <a:srgbClr val="FFFFFF"/>
                </a:solidFill>
              </a:rPr>
              <a:t>ECU INIT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181783" y="1051560"/>
            <a:ext cx="1533126" cy="228600"/>
          </a:xfrm>
          <a:prstGeom prst="round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700" b="1">
                <a:solidFill>
                  <a:srgbClr val="FFFFFF"/>
                </a:solidFill>
              </a:rPr>
              <a:t>WSS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14909" y="1051560"/>
            <a:ext cx="4216096" cy="2286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700" b="1">
                <a:solidFill>
                  <a:srgbClr val="FFFFFF"/>
                </a:solidFill>
              </a:rPr>
              <a:t>SPEED &amp; CRUISE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31005" y="1051560"/>
            <a:ext cx="1916407" cy="228600"/>
          </a:xfrm>
          <a:prstGeom prst="round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700" b="1">
                <a:solidFill>
                  <a:srgbClr val="FFFFFF"/>
                </a:solidFill>
              </a:rPr>
              <a:t>BRAKE &amp; ABS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847412" y="1051560"/>
            <a:ext cx="1763094" cy="228600"/>
          </a:xfrm>
          <a:prstGeom prst="round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700" b="1">
                <a:solidFill>
                  <a:srgbClr val="FFFFFF"/>
                </a:solidFill>
              </a:rPr>
              <a:t>REVERSE &amp; PARKING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2610506" y="1051560"/>
            <a:ext cx="1379814" cy="228600"/>
          </a:xfrm>
          <a:prstGeom prst="roundRect">
            <a:avLst/>
          </a:prstGeom>
          <a:solidFill>
            <a:srgbClr val="77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700" b="1">
                <a:solidFill>
                  <a:srgbClr val="FFFFFF"/>
                </a:solidFill>
              </a:rPr>
              <a:t>FINISH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88720" y="6656070"/>
            <a:ext cx="229968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418688" y="6656070"/>
            <a:ext cx="229969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48657" y="6656070"/>
            <a:ext cx="383282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031939" y="6656070"/>
            <a:ext cx="229969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261908" y="6656070"/>
            <a:ext cx="229968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491876" y="6656070"/>
            <a:ext cx="229969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21845" y="6656070"/>
            <a:ext cx="229969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951814" y="6656070"/>
            <a:ext cx="229969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181783" y="6656070"/>
            <a:ext cx="306625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469358" y="6434051"/>
            <a:ext cx="38100" cy="241069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488408" y="6415001"/>
            <a:ext cx="766563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54971" y="6415001"/>
            <a:ext cx="229969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65890" y="6434051"/>
            <a:ext cx="38100" cy="241069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484940" y="6656070"/>
            <a:ext cx="229969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14909" y="6656070"/>
            <a:ext cx="766563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462422" y="4746568"/>
            <a:ext cx="38100" cy="19285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481472" y="4727518"/>
            <a:ext cx="38328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864753" y="4727518"/>
            <a:ext cx="766563" cy="38100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612266" y="2818015"/>
            <a:ext cx="38100" cy="1928553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31316" y="2798965"/>
            <a:ext cx="1533126" cy="38100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164442" y="2798965"/>
            <a:ext cx="766563" cy="38100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911955" y="1853739"/>
            <a:ext cx="38100" cy="964276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31005" y="1834689"/>
            <a:ext cx="766562" cy="38100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678517" y="1853739"/>
            <a:ext cx="38100" cy="482138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697567" y="2316827"/>
            <a:ext cx="229969" cy="38100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908486" y="2335877"/>
            <a:ext cx="38100" cy="482138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927536" y="2798965"/>
            <a:ext cx="229969" cy="38100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138455" y="2818015"/>
            <a:ext cx="38100" cy="964276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157505" y="3763241"/>
            <a:ext cx="153313" cy="38100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291768" y="3782291"/>
            <a:ext cx="38100" cy="241069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310818" y="4004310"/>
            <a:ext cx="306625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98393" y="4023360"/>
            <a:ext cx="38100" cy="216962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617443" y="6173932"/>
            <a:ext cx="229969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828362" y="6192982"/>
            <a:ext cx="38100" cy="482138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847412" y="6656070"/>
            <a:ext cx="383281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230693" y="6656070"/>
            <a:ext cx="38328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594925" y="6434051"/>
            <a:ext cx="38100" cy="241069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613975" y="6415001"/>
            <a:ext cx="229968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824893" y="6434051"/>
            <a:ext cx="38100" cy="241069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1843943" y="6656070"/>
            <a:ext cx="383282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2227225" y="6656070"/>
            <a:ext cx="383281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610506" y="6656070"/>
            <a:ext cx="229969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2840475" y="6656070"/>
            <a:ext cx="306625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3147100" y="6656070"/>
            <a:ext cx="229969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3377069" y="6656070"/>
            <a:ext cx="229969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3607038" y="6656070"/>
            <a:ext cx="383282" cy="38100"/>
          </a:xfrm>
          <a:prstGeom prst="rect">
            <a:avLst/>
          </a:prstGeom>
          <a:solidFill>
            <a:srgbClr val="44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3808190" y="6370551"/>
            <a:ext cx="127000" cy="12700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14490" y="61597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00C97B"/>
                </a:solidFill>
              </a:rPr>
              <a:t>WSS 5km/h</a:t>
            </a:r>
          </a:p>
        </p:txBody>
      </p:sp>
      <p:sp>
        <p:nvSpPr>
          <p:cNvPr id="106" name="Oval 105"/>
          <p:cNvSpPr/>
          <p:nvPr/>
        </p:nvSpPr>
        <p:spPr>
          <a:xfrm>
            <a:off x="5571284" y="4683068"/>
            <a:ext cx="127000" cy="127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77584" y="4426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8C00"/>
                </a:solidFill>
              </a:rPr>
              <a:t>SMT 40km/h</a:t>
            </a:r>
          </a:p>
        </p:txBody>
      </p:sp>
      <p:sp>
        <p:nvSpPr>
          <p:cNvPr id="108" name="Oval 107"/>
          <p:cNvSpPr/>
          <p:nvPr/>
        </p:nvSpPr>
        <p:spPr>
          <a:xfrm>
            <a:off x="7334379" y="2754515"/>
            <a:ext cx="127000" cy="127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40679" y="249797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8C00"/>
                </a:solidFill>
              </a:rPr>
              <a:t>CRUISE 80km/h</a:t>
            </a:r>
          </a:p>
        </p:txBody>
      </p:sp>
      <p:sp>
        <p:nvSpPr>
          <p:cNvPr id="110" name="Oval 109"/>
          <p:cNvSpPr/>
          <p:nvPr/>
        </p:nvSpPr>
        <p:spPr>
          <a:xfrm>
            <a:off x="8867505" y="1790239"/>
            <a:ext cx="127000" cy="127000"/>
          </a:xfrm>
          <a:prstGeom prst="ellipse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473805" y="15336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55E"/>
                </a:solidFill>
              </a:rPr>
              <a:t>MAX 100km/h</a:t>
            </a:r>
          </a:p>
        </p:txBody>
      </p:sp>
      <p:sp>
        <p:nvSpPr>
          <p:cNvPr id="112" name="Oval 111"/>
          <p:cNvSpPr/>
          <p:nvPr/>
        </p:nvSpPr>
        <p:spPr>
          <a:xfrm>
            <a:off x="9864036" y="2754515"/>
            <a:ext cx="127000" cy="127000"/>
          </a:xfrm>
          <a:prstGeom prst="ellipse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470336" y="249797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55E"/>
                </a:solidFill>
              </a:rPr>
              <a:t>DRAG 80km/h</a:t>
            </a:r>
          </a:p>
        </p:txBody>
      </p:sp>
      <p:sp>
        <p:nvSpPr>
          <p:cNvPr id="114" name="Oval 113"/>
          <p:cNvSpPr/>
          <p:nvPr/>
        </p:nvSpPr>
        <p:spPr>
          <a:xfrm>
            <a:off x="10094005" y="3718791"/>
            <a:ext cx="127000" cy="127000"/>
          </a:xfrm>
          <a:prstGeom prst="ellipse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700305" y="346225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55E"/>
                </a:solidFill>
              </a:rPr>
              <a:t>BRAKE 60km/h</a:t>
            </a:r>
          </a:p>
        </p:txBody>
      </p:sp>
      <p:sp>
        <p:nvSpPr>
          <p:cNvPr id="116" name="Oval 115"/>
          <p:cNvSpPr/>
          <p:nvPr/>
        </p:nvSpPr>
        <p:spPr>
          <a:xfrm>
            <a:off x="10400630" y="6129482"/>
            <a:ext cx="127000" cy="127000"/>
          </a:xfrm>
          <a:prstGeom prst="ellipse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006930" y="591866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55E"/>
                </a:solidFill>
              </a:rPr>
              <a:t>ABS DYNAMIC</a:t>
            </a:r>
          </a:p>
        </p:txBody>
      </p:sp>
      <p:sp>
        <p:nvSpPr>
          <p:cNvPr id="118" name="Oval 117"/>
          <p:cNvSpPr/>
          <p:nvPr/>
        </p:nvSpPr>
        <p:spPr>
          <a:xfrm>
            <a:off x="11550475" y="6370551"/>
            <a:ext cx="127000" cy="127000"/>
          </a:xfrm>
          <a:prstGeom prst="ellipse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1156775" y="61597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A85CFF"/>
                </a:solidFill>
              </a:rPr>
              <a:t>REVERSE 5km/h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144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999999"/>
                </a:solidFill>
              </a:rPr>
              <a:t>km/h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Step-by-step breakdown with timing, speed, and description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4480560" cy="30175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4480560" cy="50292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2471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DDDDD"/>
                </a:solidFill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ECU INITIALIZE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26187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DDDDD"/>
                </a:solidFill>
              </a:rPr>
              <a:t>0-26s  |  26s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6916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69164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km/h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69164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NOTE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20"/>
            <a:ext cx="4297680" cy="8890"/>
          </a:xfrm>
          <a:prstGeom prst="rect">
            <a:avLst/>
          </a:prstGeom>
          <a:solidFill>
            <a:srgbClr val="333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920240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7BFF"/>
                </a:solidFill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192024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INITIALIZATION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1920240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3s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1920240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192024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System boot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167128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7BFF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167128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ECU 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167128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3s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2167128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16712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Diagnostic link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414016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7BFF"/>
                </a:solidFill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41401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START COMM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2414016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5s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414016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241401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UDS session start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2660904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7BFF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660904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ECU IDENT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2660904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3s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2660904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266090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ECU version read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2907792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7BFF"/>
                </a:solidFill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290779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CHECK SIGNAL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0" y="2907792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3s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34640" y="2907792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290779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Brake switch check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154680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7BFF"/>
                </a:solidFill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315468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DTC READ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86000" y="3154680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3s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3154680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74720" y="315468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Read fault codes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3401568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7BFF"/>
                </a:solidFill>
              </a:rP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3401568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DTC CLEAR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86000" y="3401568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3s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34640" y="3401568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74720" y="340156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Clear fault codes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3648456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7BFF"/>
                </a:solidFill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364845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[N] STOP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6000" y="3648456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3s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34640" y="3648456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364845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Neutral stop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0" y="1097280"/>
            <a:ext cx="4480560" cy="30175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0" y="1097280"/>
            <a:ext cx="4480560" cy="502920"/>
          </a:xfrm>
          <a:prstGeom prst="round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66360" y="112471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DDDDD"/>
                </a:solidFill>
              </a:rPr>
              <a:t>PHASE 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66360" y="1298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WSS TEST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80" y="126187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DDDDD"/>
                </a:solidFill>
              </a:rPr>
              <a:t>26-46s  |  20s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0640" y="169164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#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94960" y="169164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STEP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49440" y="16916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TIME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98080" y="169164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km/h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169164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NOTE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1874520"/>
            <a:ext cx="4297680" cy="8890"/>
          </a:xfrm>
          <a:prstGeom prst="rect">
            <a:avLst/>
          </a:prstGeom>
          <a:solidFill>
            <a:srgbClr val="333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120640" y="1920240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97B"/>
                </a:solidFill>
              </a:rPr>
              <a:t>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94960" y="192024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WSS READY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49440" y="1920240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4s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98080" y="1920240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8C00"/>
                </a:solidFill>
              </a:rP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38160" y="192024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Roll start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2167128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97B"/>
                </a:solidFill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2167128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WSS TEST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2167128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10s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98080" y="2167128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8C00"/>
                </a:solidFill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38160" y="216712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4-wheel speed check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20640" y="2414016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97B"/>
                </a:solidFill>
              </a:rPr>
              <a:t>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94960" y="241401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[N] STOP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49440" y="2414016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3s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98080" y="2414016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8160" y="241401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Neutral stop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20640" y="2660904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C97B"/>
                </a:solidFill>
              </a:rP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94960" y="2660904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MODE CHECK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2660904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3s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98080" y="2660904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38160" y="266090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Drive mode verify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692640" y="1097280"/>
            <a:ext cx="4480560" cy="30175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9692640" y="1097280"/>
            <a:ext cx="4480560" cy="5029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829800" y="112471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DDDDD"/>
                </a:solidFill>
              </a:rPr>
              <a:t>PHASE 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9800" y="1298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SPEED &amp; CRUISE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161520" y="126187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DDDDD"/>
                </a:solidFill>
              </a:rPr>
              <a:t>46-101s  |  55s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84080" y="169164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#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058400" y="169164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STEP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612880" y="16916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TIME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2161520" y="169164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km/h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2801600" y="169164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NOTE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784080" y="1874520"/>
            <a:ext cx="4297680" cy="8890"/>
          </a:xfrm>
          <a:prstGeom prst="rect">
            <a:avLst/>
          </a:prstGeom>
          <a:solidFill>
            <a:srgbClr val="333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784080" y="1920240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8C00"/>
                </a:solidFill>
              </a:rPr>
              <a:t>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58400" y="192024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SPEED UP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612880" y="1920240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10s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2161520" y="1920240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8C00"/>
                </a:solidFill>
              </a:rPr>
              <a:t>40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2801600" y="192024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Accelerate to 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2167128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8C00"/>
                </a:solidFill>
              </a:rP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58400" y="2167128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SMT TEST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612880" y="2167128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5s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161520" y="2167128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8C00"/>
                </a:solidFill>
              </a:rPr>
              <a:t>40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801600" y="216712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Speedometer check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784080" y="2414016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8C00"/>
                </a:solidFill>
              </a:rP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58400" y="241401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CRUISE UP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12880" y="2414016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10s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2161520" y="2414016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8C00"/>
                </a:solidFill>
              </a:rPr>
              <a:t>80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801600" y="241401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Accelerate to 80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784080" y="2660904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8C00"/>
                </a:solidFill>
              </a:rPr>
              <a:t>16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58400" y="2660904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CRUISE CHECK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612880" y="2660904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20s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161520" y="2660904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8C00"/>
                </a:solidFill>
              </a:rPr>
              <a:t>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801600" y="266090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Cruise control test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784080" y="2907792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8C00"/>
                </a:solidFill>
              </a:rPr>
              <a:t>17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058400" y="290779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MAX SPEED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612880" y="2907792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10s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161520" y="2907792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8C00"/>
                </a:solidFill>
              </a:rPr>
              <a:t>100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801600" y="290779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Max speed test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65760" y="4297680"/>
            <a:ext cx="4480560" cy="30175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365760" y="4297680"/>
            <a:ext cx="4480560" cy="502920"/>
          </a:xfrm>
          <a:prstGeom prst="round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02920" y="432511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DDDDD"/>
                </a:solidFill>
              </a:rPr>
              <a:t>PHASE 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02920" y="44988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BRAKE &amp; ABS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834640" y="446227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DDDDD"/>
                </a:solidFill>
              </a:rPr>
              <a:t>101-126s  |  25s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57200" y="489204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#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31520" y="489204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STEP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8600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TIME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34640" y="489204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km/h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474720" y="489204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NOTE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57200" y="5074920"/>
            <a:ext cx="4297680" cy="8890"/>
          </a:xfrm>
          <a:prstGeom prst="rect">
            <a:avLst/>
          </a:prstGeom>
          <a:solidFill>
            <a:srgbClr val="333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5120640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355E"/>
                </a:solidFill>
              </a:rPr>
              <a:t>18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31520" y="512064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ENGINE BRAKE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286000" y="5120640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10s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5120640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8C00"/>
                </a:solidFill>
              </a:rPr>
              <a:t>90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474720" y="512064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Engine braking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57200" y="5367528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355E"/>
                </a:solidFill>
              </a:rP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31520" y="5367528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DRAG TEST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286000" y="5367528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3s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834640" y="5367528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8C00"/>
                </a:solidFill>
              </a:rP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474720" y="536752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Rolling resistance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57200" y="5614416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355E"/>
                </a:solidFill>
              </a:rP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31520" y="561441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BRAKE TEST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286000" y="5614416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3s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34640" y="5614416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8C00"/>
                </a:solidFill>
              </a:rPr>
              <a:t>60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74720" y="561441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Base brake force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7200" y="5861304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355E"/>
                </a:solidFill>
              </a:rPr>
              <a:t>21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31520" y="5861304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DYNAMIC READY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5861304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2s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834640" y="5861304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8C00"/>
                </a:solidFill>
              </a:rPr>
              <a:t>55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474720" y="586130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Pedal release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57200" y="6108192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355E"/>
                </a:solidFill>
              </a:rPr>
              <a:t>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31520" y="610819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DYNAMIC TEST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286000" y="6108192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4s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834640" y="6108192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8C00"/>
                </a:solidFill>
              </a:rP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474720" y="610819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ABS reduction/recovery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57200" y="6355080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355E"/>
                </a:solidFill>
              </a:rPr>
              <a:t>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31520" y="635508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[N] STOP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286000" y="6355080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3s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834640" y="6355080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74720" y="635508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Neutral stop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029200" y="4297680"/>
            <a:ext cx="4480560" cy="30175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5029200" y="4297680"/>
            <a:ext cx="4480560" cy="502920"/>
          </a:xfrm>
          <a:prstGeom prst="round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166360" y="432511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DDDDD"/>
                </a:solidFill>
              </a:rPr>
              <a:t>PHASE 5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166360" y="44988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REVERSE &amp; PARKING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498080" y="446227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DDDDD"/>
                </a:solidFill>
              </a:rPr>
              <a:t>126-149s  |  23s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120640" y="489204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#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394960" y="489204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STEP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94944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TIME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498080" y="489204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km/h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138160" y="489204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NOTE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120640" y="5074920"/>
            <a:ext cx="4297680" cy="8890"/>
          </a:xfrm>
          <a:prstGeom prst="rect">
            <a:avLst/>
          </a:prstGeom>
          <a:solidFill>
            <a:srgbClr val="333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120640" y="5120640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85CFF"/>
                </a:solidFill>
              </a:rPr>
              <a:t>24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394960" y="512064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REVERSE [R]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949440" y="5120640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5s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498080" y="5120640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138160" y="512064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Shift to reverse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120640" y="5367528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85CFF"/>
                </a:solidFill>
              </a:rPr>
              <a:t>25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394960" y="5367528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[R] 5KPH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949440" y="5367528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5s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498080" y="5367528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8C00"/>
                </a:solidFill>
              </a:rPr>
              <a:t>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8138160" y="536752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Reverse speed check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20640" y="5614416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85CFF"/>
                </a:solidFill>
              </a:rPr>
              <a:t>26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394960" y="561441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[N] STOP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949440" y="5614416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3s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7498080" y="5614416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138160" y="561441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Neutral stop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120640" y="5861304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85CFF"/>
                </a:solidFill>
              </a:rPr>
              <a:t>27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5394960" y="5861304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PARKING READY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949440" y="5861304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5s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498080" y="5861304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138160" y="586130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Parking brake pull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120640" y="6108192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85CFF"/>
                </a:solidFill>
              </a:rPr>
              <a:t>28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394960" y="610819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PARKING TEST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6949440" y="6108192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5s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498080" y="6108192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138160" y="610819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Parking brake hold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9692640" y="4297680"/>
            <a:ext cx="4480560" cy="30175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9692640" y="4297680"/>
            <a:ext cx="4480560" cy="502920"/>
          </a:xfrm>
          <a:prstGeom prst="roundRect">
            <a:avLst/>
          </a:prstGeom>
          <a:solidFill>
            <a:srgbClr val="77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829800" y="432511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DDDDD"/>
                </a:solidFill>
              </a:rPr>
              <a:t>PHASE 6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829800" y="44988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FINISH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2161520" y="446227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DDDDDD"/>
                </a:solidFill>
              </a:rPr>
              <a:t>149-167s  |  18s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784080" y="489204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#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058400" y="489204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STEP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16128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TIME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2161520" y="489204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km/h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2801600" y="489204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99999"/>
                </a:solidFill>
              </a:rPr>
              <a:t>NOTE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9784080" y="5074920"/>
            <a:ext cx="4297680" cy="8890"/>
          </a:xfrm>
          <a:prstGeom prst="rect">
            <a:avLst/>
          </a:prstGeom>
          <a:solidFill>
            <a:srgbClr val="333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9784080" y="5120640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78899"/>
                </a:solidFill>
              </a:rPr>
              <a:t>29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0058400" y="512064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IDLE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612880" y="5120640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3s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2161520" y="5120640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2801600" y="512064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Idle stability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784080" y="5367528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78899"/>
                </a:solidFill>
              </a:rPr>
              <a:t>30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0058400" y="5367528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DTC READ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1612880" y="5367528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4s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2161520" y="5367528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2801600" y="536752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Final fault check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9784080" y="5614416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78899"/>
                </a:solidFill>
              </a:rPr>
              <a:t>31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058400" y="561441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DTC CLEAR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612880" y="5614416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3s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2161520" y="5614416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2801600" y="561441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Clear fault codes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9784080" y="5861304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78899"/>
                </a:solidFill>
              </a:rPr>
              <a:t>32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0058400" y="5861304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ECU DISCONNECT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1612880" y="5861304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3s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2161520" y="5861304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2801600" y="586130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Close session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784080" y="6108192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78899"/>
                </a:solidFill>
              </a:rPr>
              <a:t>33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0058400" y="610819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FINISH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1612880" y="6108192"/>
            <a:ext cx="548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5s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2161520" y="6108192"/>
            <a:ext cx="640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-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2801600" y="610819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Test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